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282" r:id="rId7"/>
    <p:sldId id="315" r:id="rId8"/>
    <p:sldId id="321" r:id="rId9"/>
    <p:sldId id="322" r:id="rId10"/>
    <p:sldId id="297" r:id="rId11"/>
    <p:sldId id="323" r:id="rId12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0" y="638135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sz="18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Цель проекта:</a:t>
            </a:r>
            <a:br>
              <a:rPr lang="ru-RU" sz="18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</a:br>
            <a:br>
              <a:rPr lang="ru-RU" sz="1800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</a:br>
            <a:r>
              <a:rPr lang="ru-RU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Обеспечить эффективную совместную работу ИТ-команды над документацией, инструкциями и базой знаний с использованием </a:t>
            </a:r>
            <a:r>
              <a:rPr lang="en-US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GIT </a:t>
            </a:r>
            <a:r>
              <a:rPr lang="ru-RU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и</a:t>
            </a:r>
            <a:r>
              <a:rPr lang="en-US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</a:t>
            </a:r>
            <a:r>
              <a:rPr lang="ru-RU" sz="1800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GitHub</a:t>
            </a:r>
            <a:r>
              <a:rPr lang="ru-RU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. Подготовить структуру репозитория для итоговой защиты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.</a:t>
            </a:r>
            <a:b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</a:b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136" y="291595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136" y="2049635"/>
            <a:ext cx="6583680" cy="3207344"/>
          </a:xfrm>
        </p:spPr>
        <p:txBody>
          <a:bodyPr rtlCol="0">
            <a:normAutofit fontScale="55000" lnSpcReduction="20000"/>
          </a:bodyPr>
          <a:lstStyle>
            <a:defPPr>
              <a:defRPr lang="ru-RU"/>
            </a:defPPr>
          </a:lstStyle>
          <a:p>
            <a:pPr algn="l"/>
            <a:endParaRPr lang="ru-RU" sz="25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5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Отсутствие единого </a:t>
            </a:r>
            <a:r>
              <a:rPr lang="ru-RU" sz="2500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workflow</a:t>
            </a:r>
            <a:r>
              <a:rPr lang="ru-RU" sz="25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 — нет чётких правил работы с ветками, коммитами и PR.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5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Конфликты слияния — возникают при одновременной правке одних файлов, требуют ручного разрешения.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5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Хаотичная структура репозитория — нет логичной иерархии папок, сложно найти нужные документы.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5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Неинформативные коммиты — сообщения не отражают сути изменений, затрудняют отслеживание истории.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5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a Sans VF"/>
              </a:rPr>
              <a:t>Проблемы с правами доступа — участники не имеют нужных прав либо настройки слишком свободные, что ведёт к ошибкам.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873965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Состав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284895"/>
            <a:ext cx="7965460" cy="3545679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marL="0" indent="0" algn="l">
              <a:buNone/>
            </a:pPr>
            <a:endParaRPr lang="ru-RU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Анастасия - руководитель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Маргарита - технический специалист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Таисия - документатор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Ульяна - консультант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Михаил - </a:t>
            </a:r>
            <a:r>
              <a:rPr lang="ru-RU" sz="1700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спеиалист</a:t>
            </a:r>
            <a:r>
              <a:rPr lang="ru-RU" sz="17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по безопасности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Вероника – помощник</a:t>
            </a:r>
          </a:p>
          <a:p>
            <a:pPr marL="0" indent="0" algn="l">
              <a:buNone/>
            </a:pP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marL="0" indent="0" algn="l">
              <a:buNone/>
            </a:pPr>
            <a:r>
              <a:rPr lang="ru-RU" sz="1500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Наша команда завершает выполнение задания по прохождению производственного обучения, чтобы стать специалистами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Инструменты с которыми мы работаем:</a:t>
            </a:r>
            <a:b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</a:b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7145" y="2057020"/>
            <a:ext cx="3727269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Инструменты с которыми мы работаем: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Excel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Word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PowerPoint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Gemini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Alice AI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Google Workspace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69834"/>
            <a:ext cx="9875463" cy="99974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Текущий прогресс</a:t>
            </a:r>
            <a:b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</a:br>
            <a:endParaRPr lang="ru-RU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095234"/>
            <a:ext cx="5829147" cy="396159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 Аудит репозитория и структура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 Работа с ветками (каждый создал свою)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 Создано 12 задач в </a:t>
            </a:r>
            <a:r>
              <a:rPr lang="ru-RU" b="0" dirty="0" err="1">
                <a:solidFill>
                  <a:schemeClr val="tx2">
                    <a:lumMod val="75000"/>
                  </a:schemeClr>
                </a:solidFill>
                <a:latin typeface="Mona Sans VF"/>
              </a:rPr>
              <a:t>Issues</a:t>
            </a:r>
            <a:endParaRPr lang="ru-RU" b="0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 База знаний: 22 вопроса/ответа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 Решение технического кейса (Кейс №1)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 Логотип команды (PNG + SVG)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 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GitHub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Pages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(в процессе)</a:t>
            </a:r>
          </a:p>
          <a:p>
            <a:pPr rtl="0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0778" y="1057274"/>
            <a:ext cx="9735250" cy="1012785"/>
          </a:xfrm>
        </p:spPr>
        <p:txBody>
          <a:bodyPr rtlCol="0"/>
          <a:lstStyle>
            <a:defPPr>
              <a:defRPr lang="ru-RU"/>
            </a:defPPr>
          </a:lstStyle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План развития</a:t>
            </a:r>
            <a:b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</a:b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6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44B98-EA11-16F7-E07C-0A2F2FC37065}"/>
              </a:ext>
            </a:extLst>
          </p:cNvPr>
          <p:cNvSpPr txBox="1"/>
          <p:nvPr/>
        </p:nvSpPr>
        <p:spPr>
          <a:xfrm>
            <a:off x="1690777" y="2070059"/>
            <a:ext cx="61075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Подключить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latin typeface="Mona Sans VF"/>
              </a:rPr>
              <a:t>GitHub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latin typeface="Mona Sans VF"/>
              </a:rPr>
              <a:t>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latin typeface="Mona Sans VF"/>
              </a:rPr>
              <a:t>Actions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latin typeface="Mona Sans VF"/>
              </a:rPr>
              <a:t> 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для автоматической проверки форматирования.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Добавить в базу знаний раздел «Частые инциденты».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Подготовить видео-инструкцию по работе с репозиторием.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Расширить проект на смежные команды.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Оформить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latin typeface="Mona Sans VF"/>
              </a:rPr>
              <a:t>Wiki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на основе </a:t>
            </a:r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aspace Neon"/>
              </a:rPr>
              <a:t>knowledge-base/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621101"/>
            <a:ext cx="3213716" cy="109555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Структура репозитория</a:t>
            </a:r>
            <a:b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</a:b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1294693"/>
            <a:ext cx="5715000" cy="4045057"/>
          </a:xfrm>
        </p:spPr>
        <p:txBody>
          <a:bodyPr rtlCol="0">
            <a:normAutofit fontScale="25000" lnSpcReduction="20000"/>
          </a:bodyPr>
          <a:lstStyle>
            <a:defPPr>
              <a:defRPr lang="ru-RU"/>
            </a:defPPr>
          </a:lstStyle>
          <a:p>
            <a:pPr rtl="0"/>
            <a:r>
              <a:rPr lang="en-US" dirty="0"/>
              <a:t>/</a:t>
            </a:r>
            <a:endParaRPr lang="en-US" sz="4000" dirty="0">
              <a:solidFill>
                <a:schemeClr val="tx1"/>
              </a:solidFill>
            </a:endParaRP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├──design/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en-US" sz="4000" dirty="0" err="1">
                <a:solidFill>
                  <a:schemeClr val="tx1"/>
                </a:solidFill>
              </a:rPr>
              <a:t>asdfg</a:t>
            </a:r>
            <a:endParaRPr lang="en-US" sz="4000" dirty="0">
              <a:solidFill>
                <a:schemeClr val="tx1"/>
              </a:solidFill>
            </a:endParaRP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├──docs/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База знаний цифрового куратора. 20в-о.</a:t>
            </a:r>
            <a:r>
              <a:rPr lang="en-US" sz="4000" dirty="0">
                <a:solidFill>
                  <a:schemeClr val="tx1"/>
                </a:solidFill>
              </a:rPr>
              <a:t>docx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Задание 3 Используя </a:t>
            </a:r>
            <a:r>
              <a:rPr lang="en-US" sz="4000" dirty="0">
                <a:solidFill>
                  <a:schemeClr val="tx1"/>
                </a:solidFill>
              </a:rPr>
              <a:t>ChatGPT </a:t>
            </a:r>
            <a:r>
              <a:rPr lang="ru-RU" sz="4000" dirty="0">
                <a:solidFill>
                  <a:schemeClr val="tx1"/>
                </a:solidFill>
              </a:rPr>
              <a:t>или аналогичный ИИ.</a:t>
            </a:r>
            <a:r>
              <a:rPr lang="en-US" sz="4000" dirty="0">
                <a:solidFill>
                  <a:schemeClr val="tx1"/>
                </a:solidFill>
              </a:rPr>
              <a:t>docx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Задание-4.</a:t>
            </a:r>
            <a:r>
              <a:rPr lang="en-US" sz="4000" dirty="0">
                <a:solidFill>
                  <a:schemeClr val="tx1"/>
                </a:solidFill>
              </a:rPr>
              <a:t>docx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Кейс.</a:t>
            </a:r>
            <a:r>
              <a:rPr lang="en-US" sz="4000" dirty="0">
                <a:solidFill>
                  <a:schemeClr val="tx1"/>
                </a:solidFill>
              </a:rPr>
              <a:t>docx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Титульный лист.</a:t>
            </a:r>
            <a:r>
              <a:rPr lang="en-US" sz="4000" dirty="0">
                <a:solidFill>
                  <a:schemeClr val="tx1"/>
                </a:solidFill>
              </a:rPr>
              <a:t>docx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Этап 1 цифровых угроз.</a:t>
            </a:r>
            <a:r>
              <a:rPr lang="en-US" sz="4000" dirty="0">
                <a:solidFill>
                  <a:schemeClr val="tx1"/>
                </a:solidFill>
              </a:rPr>
              <a:t>docx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Этап 6.</a:t>
            </a:r>
            <a:r>
              <a:rPr lang="en-US" sz="4000" dirty="0">
                <a:solidFill>
                  <a:schemeClr val="tx1"/>
                </a:solidFill>
              </a:rPr>
              <a:t>docx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├──excel/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Задание 2 День 2.</a:t>
            </a:r>
            <a:r>
              <a:rPr lang="en-US" sz="4000" dirty="0">
                <a:solidFill>
                  <a:schemeClr val="tx1"/>
                </a:solidFill>
              </a:rPr>
              <a:t>xlsx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Книга1 (1).</a:t>
            </a:r>
            <a:r>
              <a:rPr lang="en-US" sz="4000" dirty="0">
                <a:solidFill>
                  <a:schemeClr val="tx1"/>
                </a:solidFill>
              </a:rPr>
              <a:t>xlsx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├──knowledge-base/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└──faq.md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├──materials/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en-US" sz="4000" dirty="0" err="1">
                <a:solidFill>
                  <a:schemeClr val="tx1"/>
                </a:solidFill>
              </a:rPr>
              <a:t>asdfgh</a:t>
            </a:r>
            <a:endParaRPr lang="en-US" sz="4000" dirty="0">
              <a:solidFill>
                <a:schemeClr val="tx1"/>
              </a:solidFill>
            </a:endParaRP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├──presentations/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ru-RU" sz="4000" dirty="0">
                <a:solidFill>
                  <a:schemeClr val="tx1"/>
                </a:solidFill>
              </a:rPr>
              <a:t>Бойцы. День 1.</a:t>
            </a:r>
            <a:r>
              <a:rPr lang="en-US" sz="4000" dirty="0">
                <a:solidFill>
                  <a:schemeClr val="tx1"/>
                </a:solidFill>
              </a:rPr>
              <a:t>pptx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├──python/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en-US" sz="4000" dirty="0" err="1">
                <a:solidFill>
                  <a:schemeClr val="tx1"/>
                </a:solidFill>
              </a:rPr>
              <a:t>asdfg</a:t>
            </a:r>
            <a:endParaRPr lang="en-US" sz="4000" dirty="0">
              <a:solidFill>
                <a:schemeClr val="tx1"/>
              </a:solidFill>
            </a:endParaRP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├──reports/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en-US" sz="4000" dirty="0" err="1">
                <a:solidFill>
                  <a:schemeClr val="tx1"/>
                </a:solidFill>
              </a:rPr>
              <a:t>asdf</a:t>
            </a:r>
            <a:endParaRPr lang="en-US" sz="4000" dirty="0">
              <a:solidFill>
                <a:schemeClr val="tx1"/>
              </a:solidFill>
            </a:endParaRP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├──security/</a:t>
            </a: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│   └──</a:t>
            </a:r>
            <a:r>
              <a:rPr lang="en-US" sz="4000" dirty="0" err="1">
                <a:solidFill>
                  <a:schemeClr val="tx1"/>
                </a:solidFill>
              </a:rPr>
              <a:t>asdfg</a:t>
            </a:r>
            <a:endParaRPr lang="en-US" sz="4000" dirty="0">
              <a:solidFill>
                <a:schemeClr val="tx1"/>
              </a:solidFill>
            </a:endParaRPr>
          </a:p>
          <a:p>
            <a:pPr rtl="0"/>
            <a:r>
              <a:rPr lang="en-US" sz="4000" dirty="0">
                <a:solidFill>
                  <a:schemeClr val="tx1"/>
                </a:solidFill>
              </a:rPr>
              <a:t>└──README.md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7B38D-1A5D-2E2F-9943-3A7D596F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2432650" cy="1222385"/>
          </a:xfrm>
        </p:spPr>
        <p:txBody>
          <a:bodyPr/>
          <a:lstStyle/>
          <a:p>
            <a:r>
              <a:rPr lang="ru-RU" sz="4000" b="1" i="0" dirty="0">
                <a:solidFill>
                  <a:schemeClr val="tx2"/>
                </a:solidFill>
                <a:effectLst/>
                <a:latin typeface="Mona Sans VF"/>
              </a:rPr>
              <a:t>Вывод</a:t>
            </a:r>
            <a:br>
              <a:rPr lang="ru-RU" b="1" i="0" dirty="0">
                <a:solidFill>
                  <a:schemeClr val="tx2"/>
                </a:solidFill>
                <a:effectLst/>
                <a:latin typeface="Mona Sans VF"/>
              </a:rPr>
            </a:b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A7608C4-F1C1-8E5E-3A05-C47DD46893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8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BB75E5-860B-14FA-ECDC-9C99E63EC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399" y="1690553"/>
            <a:ext cx="6918386" cy="3381779"/>
          </a:xfrm>
        </p:spPr>
        <p:txBody>
          <a:bodyPr>
            <a:normAutofit fontScale="85000" lnSpcReduction="10000"/>
          </a:bodyPr>
          <a:lstStyle/>
          <a:p>
            <a:pPr algn="l"/>
            <a:endParaRPr lang="ru-RU" sz="2100" b="1" i="0" dirty="0">
              <a:solidFill>
                <a:schemeClr val="tx2"/>
              </a:solidFill>
              <a:effectLst/>
              <a:latin typeface="Mona Sans VF"/>
            </a:endParaRPr>
          </a:p>
          <a:p>
            <a:pPr algn="l"/>
            <a:r>
              <a:rPr lang="ru-RU" sz="2100" b="0" i="0" dirty="0">
                <a:solidFill>
                  <a:schemeClr val="tx2"/>
                </a:solidFill>
                <a:effectLst/>
                <a:latin typeface="Mona Sans VF"/>
              </a:rPr>
              <a:t>Для эффективной совместной работы ИТ‑команды над документацией в </a:t>
            </a:r>
            <a:r>
              <a:rPr lang="ru-RU" sz="2100" b="0" i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a Sans VF"/>
              </a:rPr>
              <a:t>Git</a:t>
            </a:r>
            <a:r>
              <a:rPr lang="ru-RU" sz="21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a Sans VF"/>
              </a:rPr>
              <a:t>/</a:t>
            </a:r>
            <a:r>
              <a:rPr lang="ru-RU" sz="2100" b="0" i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a Sans VF"/>
              </a:rPr>
              <a:t>GitHub</a:t>
            </a:r>
            <a:r>
              <a:rPr lang="ru-RU" sz="2100" b="0" i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a Sans VF"/>
              </a:rPr>
              <a:t> </a:t>
            </a:r>
            <a:r>
              <a:rPr lang="ru-RU" sz="2100" b="0" i="0" dirty="0">
                <a:solidFill>
                  <a:schemeClr val="tx2"/>
                </a:solidFill>
                <a:effectLst/>
                <a:latin typeface="Mona Sans VF"/>
              </a:rPr>
              <a:t>нужно устранить ключевые проблемы: внедрить единый </a:t>
            </a:r>
            <a:r>
              <a:rPr lang="ru-RU" sz="2100" b="0" i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a Sans VF"/>
              </a:rPr>
              <a:t>workflow</a:t>
            </a:r>
            <a:r>
              <a:rPr lang="ru-RU" sz="2100" b="0" i="0" dirty="0">
                <a:solidFill>
                  <a:schemeClr val="tx2"/>
                </a:solidFill>
                <a:effectLst/>
                <a:latin typeface="Mona Sans VF"/>
              </a:rPr>
              <a:t> с чёткими правилами работы с ветками, PR и коммитами, минимизировать конфликты слияния за счёт грамотного распределения задач и синхронизации веток, упорядочить структуру репозитория с логичной иерархией папок, установить стандарты для информативных сообщений коммитов и настроить оптимальные права доступа для участников — это обеспечит порядок в работе, снизит число ошибок и повысит продуктивность команды.</a:t>
            </a:r>
          </a:p>
          <a:p>
            <a:br>
              <a:rPr lang="ru-RU" dirty="0">
                <a:solidFill>
                  <a:schemeClr val="tx2"/>
                </a:solidFill>
              </a:rPr>
            </a:br>
            <a:endParaRPr lang="ru-R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87915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71af3243-3dd4-4a8d-8c0d-dd76da1f02a5"/>
    <ds:schemaRef ds:uri="http://purl.org/dc/terms/"/>
    <ds:schemaRef ds:uri="http://schemas.microsoft.com/office/infopath/2007/PartnerControls"/>
    <ds:schemaRef ds:uri="16c05727-aa75-4e4a-9b5f-8a80a1165891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{87742018-199A-4416-BCE5-6A4FADF3E3EF}TF8a9b5915-b8c7-461e-8cdd-693d48b5e323138ae9a7_win32-fecfc327da1f</Template>
  <TotalTime>28</TotalTime>
  <Words>477</Words>
  <Application>Microsoft Office PowerPoint</Application>
  <PresentationFormat>Широкоэкранный</PresentationFormat>
  <Paragraphs>78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Mona Sans VF</vt:lpstr>
      <vt:lpstr>Monaspace Neon</vt:lpstr>
      <vt:lpstr>Times new Roman</vt:lpstr>
      <vt:lpstr>Пользовательская</vt:lpstr>
      <vt:lpstr>Цель проекта:  Обеспечить эффективную совместную работу ИТ-команды над документацией, инструкциями и базой знаний с использованием GIT и GitHub. Подготовить структуру репозитория для итоговой защиты. </vt:lpstr>
      <vt:lpstr>проблемы</vt:lpstr>
      <vt:lpstr>Состав команды</vt:lpstr>
      <vt:lpstr>Инструменты с которыми мы работаем: </vt:lpstr>
      <vt:lpstr>Текущий прогресс </vt:lpstr>
      <vt:lpstr>План развития </vt:lpstr>
      <vt:lpstr>Структура репозитория </vt:lpstr>
      <vt:lpstr>Вывод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408</dc:creator>
  <cp:lastModifiedBy>408</cp:lastModifiedBy>
  <cp:revision>1</cp:revision>
  <dcterms:created xsi:type="dcterms:W3CDTF">2026-06-05T06:21:36Z</dcterms:created>
  <dcterms:modified xsi:type="dcterms:W3CDTF">2026-06-05T06:50:36Z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